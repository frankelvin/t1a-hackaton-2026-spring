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1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0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1703029-845C-48C1-BAE7-21A11B180F7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920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20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text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 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</a:t>
            </a: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0E0609D-C3DA-4F62-AB84-D368AF5109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text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Outlin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ent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Outl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ine 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Lev</a:t>
            </a: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8F5458B-891B-41F3-9803-5A3155595D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0D399B0-3EF8-4D72-8A9F-FCD0DF7A794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20FAB7F-F3FD-4378-9F4F-071B4A08121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471CBE-9F24-48D8-A933-3B632EF6883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F87FE1E-6C4C-4147-A066-A549932522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B054CAF-956C-45D4-9955-CB417C0BB6E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9C50416-5995-4B3B-B007-330F390C67E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20679673-DCD2-479D-8875-593B3FC7146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C3B8828-B8D6-43F6-8C07-8189BDC86C6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dt" idx="3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ftr" idx="3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sldNum" idx="3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45C7F4-CB51-4FF9-A697-418CEE5C1C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120" cy="1143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12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48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48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39920" cy="63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6"/>
          <p:cNvSpPr>
            <a:spLocks noGrp="1"/>
          </p:cNvSpPr>
          <p:nvPr>
            <p:ph type="dt" idx="37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7"/>
          <p:cNvSpPr>
            <a:spLocks noGrp="1"/>
          </p:cNvSpPr>
          <p:nvPr>
            <p:ph type="ftr" idx="38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8"/>
          <p:cNvSpPr>
            <a:spLocks noGrp="1"/>
          </p:cNvSpPr>
          <p:nvPr>
            <p:ph type="sldNum" idx="39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FA8979F9-8842-4AA8-BF55-5E3C7FC0F97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  <p:sldLayoutId id="214748366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5394960"/>
            <a:ext cx="12188160" cy="723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457200" y="822960"/>
            <a:ext cx="9143280" cy="137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Never Empty</a:t>
            </a:r>
            <a:endParaRPr lang="ru-RU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457200" y="2560320"/>
            <a:ext cx="91432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6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AI-powered household inventory that tells you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6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what runs out — before it does.</a:t>
            </a:r>
            <a:endParaRPr lang="ru-RU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4"/>
          <p:cNvSpPr/>
          <p:nvPr/>
        </p:nvSpPr>
        <p:spPr>
          <a:xfrm>
            <a:off x="457200" y="4023360"/>
            <a:ext cx="45712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Hackathon 2026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0" y="5623560"/>
            <a:ext cx="1218816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Track  ·  Forecast  ·  Alert  ·  Shop Smart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0"/>
            <a:ext cx="163800" cy="6857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457200" y="274320"/>
            <a:ext cx="1097208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Problem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3"/>
          <p:cNvSpPr/>
          <p:nvPr/>
        </p:nvSpPr>
        <p:spPr>
          <a:xfrm>
            <a:off x="457200" y="1143000"/>
            <a:ext cx="109720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Household management is full of invisible, costly friction.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457200" y="1828800"/>
            <a:ext cx="1124640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839"/>
              </a:spcBef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🚨  "We ran out of diapers at 11 PM."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839"/>
              </a:spcBef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🛒  "I bought shampoo — we already had 3 bottles at home."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839"/>
              </a:spcBef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☕  "No coffee. Again. The worst possible morning."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839"/>
              </a:spcBef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🐾  "The dog bowl is empty and the store closes in 10 min."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839"/>
              </a:spcBef>
            </a:pPr>
            <a:r>
              <a:rPr lang="en-US" sz="21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💊  "We finished the last ibuprofen mid-headache."</a:t>
            </a:r>
            <a:endParaRPr lang="ru-RU" sz="2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457200" y="5989320"/>
            <a:ext cx="109720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i="1" u="none" strike="noStrike">
                <a:solidFill>
                  <a:srgbClr val="f59e0b"/>
                </a:solidFill>
                <a:effectLst/>
                <a:uFillTx/>
                <a:latin typeface="Calibri"/>
              </a:rPr>
              <a:t>Everyone has been there. Nobody has solved it — until now.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1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2"/>
          <p:cNvSpPr/>
          <p:nvPr/>
        </p:nvSpPr>
        <p:spPr>
          <a:xfrm>
            <a:off x="457200" y="1828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The Solution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3"/>
          <p:cNvSpPr/>
          <p:nvPr/>
        </p:nvSpPr>
        <p:spPr>
          <a:xfrm>
            <a:off x="457200" y="1371600"/>
            <a:ext cx="594288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Never Empty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4"/>
          <p:cNvSpPr/>
          <p:nvPr/>
        </p:nvSpPr>
        <p:spPr>
          <a:xfrm>
            <a:off x="457200" y="2377440"/>
            <a:ext cx="731448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is a smart household inventory app that learns your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consumption patterns and alerts you before anything runs out.</a:t>
            </a:r>
            <a:endParaRPr lang="ru-RU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5"/>
          <p:cNvSpPr/>
          <p:nvPr/>
        </p:nvSpPr>
        <p:spPr>
          <a:xfrm>
            <a:off x="457200" y="3794760"/>
            <a:ext cx="11429280" cy="283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615"/>
              </a:spcBef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Real-time dashboard — critical vs. upcoming vs. well-stocked at a glance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15"/>
              </a:spcBef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AI depletion forecasting — exact days remaining, per product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15"/>
              </a:spcBef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Multi-channel entry — receipt scan, email forward, barcode, or manual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15"/>
              </a:spcBef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Smart shopping lists — grouped by store, sorted by urgency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15"/>
              </a:spcBef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Email notifications — alerted 3 days before you run out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365760" y="182880"/>
            <a:ext cx="109720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How It Works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365760" y="1005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Four simple steps. Zero effort after setup.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Rectangle 3"/>
          <p:cNvSpPr/>
          <p:nvPr/>
        </p:nvSpPr>
        <p:spPr>
          <a:xfrm>
            <a:off x="274320" y="1737360"/>
            <a:ext cx="2788200" cy="46627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Rectangle 4"/>
          <p:cNvSpPr/>
          <p:nvPr/>
        </p:nvSpPr>
        <p:spPr>
          <a:xfrm>
            <a:off x="274320" y="1737360"/>
            <a:ext cx="2788200" cy="566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411480" y="1764720"/>
            <a:ext cx="2541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1. ADD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411480" y="2450520"/>
            <a:ext cx="255960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Scan a receipt, forward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an order email, scan a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barcode, or type manually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7"/>
          <p:cNvSpPr/>
          <p:nvPr/>
        </p:nvSpPr>
        <p:spPr>
          <a:xfrm>
            <a:off x="3246120" y="1737360"/>
            <a:ext cx="2788200" cy="46627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8"/>
          <p:cNvSpPr/>
          <p:nvPr/>
        </p:nvSpPr>
        <p:spPr>
          <a:xfrm>
            <a:off x="3246120" y="1737360"/>
            <a:ext cx="2788200" cy="56628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3383280" y="1764720"/>
            <a:ext cx="2541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2. LEARN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3383280" y="2450520"/>
            <a:ext cx="255960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AI analyses purchase history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and calculates a precise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daily usage rate per item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Rectangle 11"/>
          <p:cNvSpPr/>
          <p:nvPr/>
        </p:nvSpPr>
        <p:spPr>
          <a:xfrm>
            <a:off x="6217920" y="1737360"/>
            <a:ext cx="2788200" cy="46627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Rectangle 12"/>
          <p:cNvSpPr/>
          <p:nvPr/>
        </p:nvSpPr>
        <p:spPr>
          <a:xfrm>
            <a:off x="6217920" y="1737360"/>
            <a:ext cx="2788200" cy="566280"/>
          </a:xfrm>
          <a:prstGeom prst="rect">
            <a:avLst/>
          </a:prstGeom>
          <a:solidFill>
            <a:srgbClr val="ef444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3"/>
          <p:cNvSpPr/>
          <p:nvPr/>
        </p:nvSpPr>
        <p:spPr>
          <a:xfrm>
            <a:off x="6355080" y="1764720"/>
            <a:ext cx="2541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3. ALERT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Box 14"/>
          <p:cNvSpPr/>
          <p:nvPr/>
        </p:nvSpPr>
        <p:spPr>
          <a:xfrm>
            <a:off x="6355080" y="2450520"/>
            <a:ext cx="255960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Dashboard highlights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critical items in red.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Email sent 3 days before 0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15"/>
          <p:cNvSpPr/>
          <p:nvPr/>
        </p:nvSpPr>
        <p:spPr>
          <a:xfrm>
            <a:off x="9189720" y="1737360"/>
            <a:ext cx="2788200" cy="46627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ectangle 16"/>
          <p:cNvSpPr/>
          <p:nvPr/>
        </p:nvSpPr>
        <p:spPr>
          <a:xfrm>
            <a:off x="9189720" y="1737360"/>
            <a:ext cx="2788200" cy="56628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17"/>
          <p:cNvSpPr/>
          <p:nvPr/>
        </p:nvSpPr>
        <p:spPr>
          <a:xfrm>
            <a:off x="9326880" y="1764720"/>
            <a:ext cx="25412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4. SHOP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8"/>
          <p:cNvSpPr/>
          <p:nvPr/>
        </p:nvSpPr>
        <p:spPr>
          <a:xfrm>
            <a:off x="9326880" y="2450520"/>
            <a:ext cx="2559600" cy="365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Get a ready shopping list,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grouped by your stores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and sorted by urgency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65760" y="16452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Key Features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274320" y="117036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TextBox 4"/>
          <p:cNvSpPr/>
          <p:nvPr/>
        </p:nvSpPr>
        <p:spPr>
          <a:xfrm>
            <a:off x="457200" y="133488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📊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234440" y="13075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Depletion Forecast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457200" y="197496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Days-until-empty for every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item. Color-coded urgency: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red / orange / green.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7"/>
          <p:cNvSpPr/>
          <p:nvPr/>
        </p:nvSpPr>
        <p:spPr>
          <a:xfrm>
            <a:off x="4251960" y="117036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8"/>
          <p:cNvSpPr/>
          <p:nvPr/>
        </p:nvSpPr>
        <p:spPr>
          <a:xfrm>
            <a:off x="4434840" y="133488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📷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9"/>
          <p:cNvSpPr/>
          <p:nvPr/>
        </p:nvSpPr>
        <p:spPr>
          <a:xfrm>
            <a:off x="5212080" y="13075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Receipt Scanning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10"/>
          <p:cNvSpPr/>
          <p:nvPr/>
        </p:nvSpPr>
        <p:spPr>
          <a:xfrm>
            <a:off x="4434840" y="197496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AI reads any grocery receipt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and adds all items &amp; quantities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in seconds.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1"/>
          <p:cNvSpPr/>
          <p:nvPr/>
        </p:nvSpPr>
        <p:spPr>
          <a:xfrm>
            <a:off x="8229600" y="117036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TextBox 12"/>
          <p:cNvSpPr/>
          <p:nvPr/>
        </p:nvSpPr>
        <p:spPr>
          <a:xfrm>
            <a:off x="8412480" y="133488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📧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3"/>
          <p:cNvSpPr/>
          <p:nvPr/>
        </p:nvSpPr>
        <p:spPr>
          <a:xfrm>
            <a:off x="9189720" y="130752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Email Parsing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4"/>
          <p:cNvSpPr/>
          <p:nvPr/>
        </p:nvSpPr>
        <p:spPr>
          <a:xfrm>
            <a:off x="8412480" y="197496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Forward order confirmations.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AI extracts products, quantities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and prices automatically.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15"/>
          <p:cNvSpPr/>
          <p:nvPr/>
        </p:nvSpPr>
        <p:spPr>
          <a:xfrm>
            <a:off x="274320" y="382212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6"/>
          <p:cNvSpPr/>
          <p:nvPr/>
        </p:nvSpPr>
        <p:spPr>
          <a:xfrm>
            <a:off x="457200" y="398664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🔔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7"/>
          <p:cNvSpPr/>
          <p:nvPr/>
        </p:nvSpPr>
        <p:spPr>
          <a:xfrm>
            <a:off x="1234440" y="39592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Smart Notifications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8"/>
          <p:cNvSpPr/>
          <p:nvPr/>
        </p:nvSpPr>
        <p:spPr>
          <a:xfrm>
            <a:off x="457200" y="462672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Email alerts before depletion.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Configurable lead time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per household.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19"/>
          <p:cNvSpPr/>
          <p:nvPr/>
        </p:nvSpPr>
        <p:spPr>
          <a:xfrm>
            <a:off x="4251960" y="382212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20"/>
          <p:cNvSpPr/>
          <p:nvPr/>
        </p:nvSpPr>
        <p:spPr>
          <a:xfrm>
            <a:off x="4434840" y="398664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🏪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21"/>
          <p:cNvSpPr/>
          <p:nvPr/>
        </p:nvSpPr>
        <p:spPr>
          <a:xfrm>
            <a:off x="5212080" y="39592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Store Organisation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2"/>
          <p:cNvSpPr/>
          <p:nvPr/>
        </p:nvSpPr>
        <p:spPr>
          <a:xfrm>
            <a:off x="4434840" y="462672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Assign products to stores.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Shopping list grouped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by next-visit date.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23"/>
          <p:cNvSpPr/>
          <p:nvPr/>
        </p:nvSpPr>
        <p:spPr>
          <a:xfrm>
            <a:off x="8229600" y="3822120"/>
            <a:ext cx="3748320" cy="242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24"/>
          <p:cNvSpPr/>
          <p:nvPr/>
        </p:nvSpPr>
        <p:spPr>
          <a:xfrm>
            <a:off x="8412480" y="3986640"/>
            <a:ext cx="685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👨‍👩‍👧</a:t>
            </a:r>
            <a:endParaRPr lang="ru-RU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5"/>
          <p:cNvSpPr/>
          <p:nvPr/>
        </p:nvSpPr>
        <p:spPr>
          <a:xfrm>
            <a:off x="9189720" y="3959280"/>
            <a:ext cx="26510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Multi-member Support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6"/>
          <p:cNvSpPr/>
          <p:nvPr/>
        </p:nvSpPr>
        <p:spPr>
          <a:xfrm>
            <a:off x="8412480" y="4626720"/>
            <a:ext cx="3474000" cy="150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Adults, children, pets —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separate consumption rates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per consumer category.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Box 1"/>
          <p:cNvSpPr/>
          <p:nvPr/>
        </p:nvSpPr>
        <p:spPr>
          <a:xfrm>
            <a:off x="365760" y="182880"/>
            <a:ext cx="1142928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4 Ways to Add Products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2"/>
          <p:cNvSpPr/>
          <p:nvPr/>
        </p:nvSpPr>
        <p:spPr>
          <a:xfrm>
            <a:off x="365760" y="98748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Meet users where they already are.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274320" y="1627560"/>
            <a:ext cx="2788200" cy="48913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Rectangle 4"/>
          <p:cNvSpPr/>
          <p:nvPr/>
        </p:nvSpPr>
        <p:spPr>
          <a:xfrm>
            <a:off x="274320" y="1627560"/>
            <a:ext cx="2788200" cy="52956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384120" y="164592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📷  Receipt Photo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6"/>
          <p:cNvSpPr/>
          <p:nvPr/>
        </p:nvSpPr>
        <p:spPr>
          <a:xfrm>
            <a:off x="384120" y="2286000"/>
            <a:ext cx="26053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Photograph any grocery receipt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AI extracts every line item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Review &amp; confirm in batch UI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Works with any supermarket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Rectangle 7"/>
          <p:cNvSpPr/>
          <p:nvPr/>
        </p:nvSpPr>
        <p:spPr>
          <a:xfrm>
            <a:off x="3246120" y="1627560"/>
            <a:ext cx="2788200" cy="48913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Rectangle 8"/>
          <p:cNvSpPr/>
          <p:nvPr/>
        </p:nvSpPr>
        <p:spPr>
          <a:xfrm>
            <a:off x="3246120" y="1627560"/>
            <a:ext cx="2788200" cy="529560"/>
          </a:xfrm>
          <a:prstGeom prst="rect">
            <a:avLst/>
          </a:prstGeom>
          <a:solidFill>
            <a:srgbClr val="22c55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9"/>
          <p:cNvSpPr/>
          <p:nvPr/>
        </p:nvSpPr>
        <p:spPr>
          <a:xfrm>
            <a:off x="3355920" y="164592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📧  Order Email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10"/>
          <p:cNvSpPr/>
          <p:nvPr/>
        </p:nvSpPr>
        <p:spPr>
          <a:xfrm>
            <a:off x="3355920" y="2286000"/>
            <a:ext cx="26053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Forward any order confirmation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AI parses products &amp; prices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Amazon, Carrefour, Ocado…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No app switch — just forward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1"/>
          <p:cNvSpPr/>
          <p:nvPr/>
        </p:nvSpPr>
        <p:spPr>
          <a:xfrm>
            <a:off x="6217920" y="1627560"/>
            <a:ext cx="2788200" cy="48913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ectangle 12"/>
          <p:cNvSpPr/>
          <p:nvPr/>
        </p:nvSpPr>
        <p:spPr>
          <a:xfrm>
            <a:off x="6217920" y="1627560"/>
            <a:ext cx="2788200" cy="52956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3"/>
          <p:cNvSpPr/>
          <p:nvPr/>
        </p:nvSpPr>
        <p:spPr>
          <a:xfrm>
            <a:off x="6327720" y="164592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📦  Barcode Scan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4"/>
          <p:cNvSpPr/>
          <p:nvPr/>
        </p:nvSpPr>
        <p:spPr>
          <a:xfrm>
            <a:off x="6327720" y="2286000"/>
            <a:ext cx="26053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Scan product barcode live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Name &amp; category auto-filled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Just enter quantity bought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Works with major barcode DBs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5"/>
          <p:cNvSpPr/>
          <p:nvPr/>
        </p:nvSpPr>
        <p:spPr>
          <a:xfrm>
            <a:off x="9189720" y="1627560"/>
            <a:ext cx="2788200" cy="48913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Rectangle 16"/>
          <p:cNvSpPr/>
          <p:nvPr/>
        </p:nvSpPr>
        <p:spPr>
          <a:xfrm>
            <a:off x="9189720" y="1627560"/>
            <a:ext cx="2788200" cy="529560"/>
          </a:xfrm>
          <a:prstGeom prst="rect">
            <a:avLst/>
          </a:prstGeom>
          <a:solidFill>
            <a:srgbClr val="cbd5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TextBox 17"/>
          <p:cNvSpPr/>
          <p:nvPr/>
        </p:nvSpPr>
        <p:spPr>
          <a:xfrm>
            <a:off x="9299520" y="1645920"/>
            <a:ext cx="26053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✍️  Manual Entry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18"/>
          <p:cNvSpPr/>
          <p:nvPr/>
        </p:nvSpPr>
        <p:spPr>
          <a:xfrm>
            <a:off x="9299520" y="2286000"/>
            <a:ext cx="2605320" cy="402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Type name, quantity, unit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Choose category &amp; store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Set consumption rate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lang="en-US" sz="14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• AI estimates rate if unknown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365760" y="18288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Who It's For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3" name="Rectangle 3"/>
          <p:cNvSpPr/>
          <p:nvPr/>
        </p:nvSpPr>
        <p:spPr>
          <a:xfrm>
            <a:off x="365760" y="1188720"/>
            <a:ext cx="5714280" cy="233100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4"/>
          <p:cNvSpPr/>
          <p:nvPr/>
        </p:nvSpPr>
        <p:spPr>
          <a:xfrm>
            <a:off x="548640" y="1463040"/>
            <a:ext cx="913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👨‍👩‍👧‍👦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1600200" y="1389960"/>
            <a:ext cx="4296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Families with Children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600200" y="1993320"/>
            <a:ext cx="42969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Track diapers, formula, snacks and medicines with per-child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consumption — never face a midnight emergency again.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7"/>
          <p:cNvSpPr/>
          <p:nvPr/>
        </p:nvSpPr>
        <p:spPr>
          <a:xfrm>
            <a:off x="6355080" y="1188720"/>
            <a:ext cx="5714280" cy="233100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8"/>
          <p:cNvSpPr/>
          <p:nvPr/>
        </p:nvSpPr>
        <p:spPr>
          <a:xfrm>
            <a:off x="6537960" y="1463040"/>
            <a:ext cx="913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🐾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7589520" y="1389960"/>
            <a:ext cx="4296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Pet Owners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7589520" y="1993320"/>
            <a:ext cx="42969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Separate forecasts for every animal. Cat food, dog food,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bird seed — each with its own depletion timeline.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365760" y="3794760"/>
            <a:ext cx="5714280" cy="233100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2" name="TextBox 12"/>
          <p:cNvSpPr/>
          <p:nvPr/>
        </p:nvSpPr>
        <p:spPr>
          <a:xfrm>
            <a:off x="548640" y="4069080"/>
            <a:ext cx="913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🏠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1600200" y="3996000"/>
            <a:ext cx="4296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Busy Households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1600200" y="4599360"/>
            <a:ext cx="42969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Two working adults with no time to check the cupboard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before every shopping trip. One dashboard fixes that.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Rectangle 15"/>
          <p:cNvSpPr/>
          <p:nvPr/>
        </p:nvSpPr>
        <p:spPr>
          <a:xfrm>
            <a:off x="6355080" y="3794760"/>
            <a:ext cx="5714280" cy="233100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6" name="TextBox 16"/>
          <p:cNvSpPr/>
          <p:nvPr/>
        </p:nvSpPr>
        <p:spPr>
          <a:xfrm>
            <a:off x="6537960" y="4069080"/>
            <a:ext cx="9136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💊</a:t>
            </a:r>
            <a:endParaRPr lang="ru-RU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7"/>
          <p:cNvSpPr/>
          <p:nvPr/>
        </p:nvSpPr>
        <p:spPr>
          <a:xfrm>
            <a:off x="7589520" y="3996000"/>
            <a:ext cx="429696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Health-conscious Homes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18"/>
          <p:cNvSpPr/>
          <p:nvPr/>
        </p:nvSpPr>
        <p:spPr>
          <a:xfrm>
            <a:off x="7589520" y="4599360"/>
            <a:ext cx="4296960" cy="14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Track supplements, prescription medicines and first-aid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supplies with precise quantity management.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22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47"/>
          <p:cNvSpPr/>
          <p:nvPr/>
        </p:nvSpPr>
        <p:spPr>
          <a:xfrm>
            <a:off x="457200" y="1371600"/>
            <a:ext cx="728244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4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Time for a live demo!</a:t>
            </a:r>
            <a:endParaRPr lang="ru-RU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 1"/>
          <p:cNvSpPr/>
          <p:nvPr/>
        </p:nvSpPr>
        <p:spPr>
          <a:xfrm>
            <a:off x="0" y="0"/>
            <a:ext cx="12188160" cy="100512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2" name="TextBox 2"/>
          <p:cNvSpPr/>
          <p:nvPr/>
        </p:nvSpPr>
        <p:spPr>
          <a:xfrm>
            <a:off x="365760" y="164520"/>
            <a:ext cx="1097208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Why Never Empty Wins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Rectangle 3"/>
          <p:cNvSpPr/>
          <p:nvPr/>
        </p:nvSpPr>
        <p:spPr>
          <a:xfrm>
            <a:off x="274320" y="1143000"/>
            <a:ext cx="31996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4" name="TextBox 4"/>
          <p:cNvSpPr/>
          <p:nvPr/>
        </p:nvSpPr>
        <p:spPr>
          <a:xfrm>
            <a:off x="365760" y="1234440"/>
            <a:ext cx="30625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Feature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Rectangle 5"/>
          <p:cNvSpPr/>
          <p:nvPr/>
        </p:nvSpPr>
        <p:spPr>
          <a:xfrm>
            <a:off x="3566160" y="1143000"/>
            <a:ext cx="22852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6" name="TextBox 6"/>
          <p:cNvSpPr/>
          <p:nvPr/>
        </p:nvSpPr>
        <p:spPr>
          <a:xfrm>
            <a:off x="3657600" y="1234440"/>
            <a:ext cx="21481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Shopping apps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7"/>
          <p:cNvSpPr/>
          <p:nvPr/>
        </p:nvSpPr>
        <p:spPr>
          <a:xfrm>
            <a:off x="5989320" y="1143000"/>
            <a:ext cx="237672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8"/>
          <p:cNvSpPr/>
          <p:nvPr/>
        </p:nvSpPr>
        <p:spPr>
          <a:xfrm>
            <a:off x="6080760" y="1234440"/>
            <a:ext cx="223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Reminder apps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Rectangle 9"/>
          <p:cNvSpPr/>
          <p:nvPr/>
        </p:nvSpPr>
        <p:spPr>
          <a:xfrm>
            <a:off x="8503920" y="1143000"/>
            <a:ext cx="3519720" cy="648360"/>
          </a:xfrm>
          <a:prstGeom prst="rect">
            <a:avLst/>
          </a:prstGeom>
          <a:solidFill>
            <a:srgbClr val="1d57b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0" name="TextBox 10"/>
          <p:cNvSpPr/>
          <p:nvPr/>
        </p:nvSpPr>
        <p:spPr>
          <a:xfrm>
            <a:off x="8595360" y="1234440"/>
            <a:ext cx="3382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Never Empty ✨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11"/>
          <p:cNvSpPr/>
          <p:nvPr/>
        </p:nvSpPr>
        <p:spPr>
          <a:xfrm>
            <a:off x="274320" y="1792080"/>
            <a:ext cx="31996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TextBox 12"/>
          <p:cNvSpPr/>
          <p:nvPr/>
        </p:nvSpPr>
        <p:spPr>
          <a:xfrm>
            <a:off x="365760" y="190188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Depletion forecast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3"/>
          <p:cNvSpPr/>
          <p:nvPr/>
        </p:nvSpPr>
        <p:spPr>
          <a:xfrm>
            <a:off x="3566160" y="1792080"/>
            <a:ext cx="22852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4"/>
          <p:cNvSpPr/>
          <p:nvPr/>
        </p:nvSpPr>
        <p:spPr>
          <a:xfrm>
            <a:off x="3657600" y="190188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Rectangle 15"/>
          <p:cNvSpPr/>
          <p:nvPr/>
        </p:nvSpPr>
        <p:spPr>
          <a:xfrm>
            <a:off x="5989320" y="1792080"/>
            <a:ext cx="237672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TextBox 16"/>
          <p:cNvSpPr/>
          <p:nvPr/>
        </p:nvSpPr>
        <p:spPr>
          <a:xfrm>
            <a:off x="6080760" y="190188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Rectangle 17"/>
          <p:cNvSpPr/>
          <p:nvPr/>
        </p:nvSpPr>
        <p:spPr>
          <a:xfrm>
            <a:off x="8503920" y="179208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8"/>
          <p:cNvSpPr/>
          <p:nvPr/>
        </p:nvSpPr>
        <p:spPr>
          <a:xfrm>
            <a:off x="8595360" y="190188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Rectangle 19"/>
          <p:cNvSpPr/>
          <p:nvPr/>
        </p:nvSpPr>
        <p:spPr>
          <a:xfrm>
            <a:off x="274320" y="2441520"/>
            <a:ext cx="31996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0"/>
          <p:cNvSpPr/>
          <p:nvPr/>
        </p:nvSpPr>
        <p:spPr>
          <a:xfrm>
            <a:off x="365760" y="255132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consumption learning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Rectangle 21"/>
          <p:cNvSpPr/>
          <p:nvPr/>
        </p:nvSpPr>
        <p:spPr>
          <a:xfrm>
            <a:off x="3566160" y="2441520"/>
            <a:ext cx="22852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22"/>
          <p:cNvSpPr/>
          <p:nvPr/>
        </p:nvSpPr>
        <p:spPr>
          <a:xfrm>
            <a:off x="3657600" y="255132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Rectangle 23"/>
          <p:cNvSpPr/>
          <p:nvPr/>
        </p:nvSpPr>
        <p:spPr>
          <a:xfrm>
            <a:off x="5989320" y="2441520"/>
            <a:ext cx="237672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TextBox 24"/>
          <p:cNvSpPr/>
          <p:nvPr/>
        </p:nvSpPr>
        <p:spPr>
          <a:xfrm>
            <a:off x="6080760" y="255132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Rectangle 25"/>
          <p:cNvSpPr/>
          <p:nvPr/>
        </p:nvSpPr>
        <p:spPr>
          <a:xfrm>
            <a:off x="8503920" y="244152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26"/>
          <p:cNvSpPr/>
          <p:nvPr/>
        </p:nvSpPr>
        <p:spPr>
          <a:xfrm>
            <a:off x="8595360" y="255132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Rectangle 27"/>
          <p:cNvSpPr/>
          <p:nvPr/>
        </p:nvSpPr>
        <p:spPr>
          <a:xfrm>
            <a:off x="274320" y="3090600"/>
            <a:ext cx="31996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8" name="TextBox 28"/>
          <p:cNvSpPr/>
          <p:nvPr/>
        </p:nvSpPr>
        <p:spPr>
          <a:xfrm>
            <a:off x="365760" y="320040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Receipt / email import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29"/>
          <p:cNvSpPr/>
          <p:nvPr/>
        </p:nvSpPr>
        <p:spPr>
          <a:xfrm>
            <a:off x="3566160" y="3090600"/>
            <a:ext cx="22852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30"/>
          <p:cNvSpPr/>
          <p:nvPr/>
        </p:nvSpPr>
        <p:spPr>
          <a:xfrm>
            <a:off x="3657600" y="320040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Rectangle 31"/>
          <p:cNvSpPr/>
          <p:nvPr/>
        </p:nvSpPr>
        <p:spPr>
          <a:xfrm>
            <a:off x="5989320" y="3090600"/>
            <a:ext cx="237672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2" name="TextBox 32"/>
          <p:cNvSpPr/>
          <p:nvPr/>
        </p:nvSpPr>
        <p:spPr>
          <a:xfrm>
            <a:off x="6080760" y="320040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Rectangle 33"/>
          <p:cNvSpPr/>
          <p:nvPr/>
        </p:nvSpPr>
        <p:spPr>
          <a:xfrm>
            <a:off x="8503920" y="309060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34"/>
          <p:cNvSpPr/>
          <p:nvPr/>
        </p:nvSpPr>
        <p:spPr>
          <a:xfrm>
            <a:off x="8595360" y="320040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Rectangle 35"/>
          <p:cNvSpPr/>
          <p:nvPr/>
        </p:nvSpPr>
        <p:spPr>
          <a:xfrm>
            <a:off x="274320" y="3740040"/>
            <a:ext cx="31996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6" name="TextBox 36"/>
          <p:cNvSpPr/>
          <p:nvPr/>
        </p:nvSpPr>
        <p:spPr>
          <a:xfrm>
            <a:off x="365760" y="384948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Per-store shopping list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Rectangle 37"/>
          <p:cNvSpPr/>
          <p:nvPr/>
        </p:nvSpPr>
        <p:spPr>
          <a:xfrm>
            <a:off x="3566160" y="3740040"/>
            <a:ext cx="22852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38"/>
          <p:cNvSpPr/>
          <p:nvPr/>
        </p:nvSpPr>
        <p:spPr>
          <a:xfrm>
            <a:off x="3657600" y="384948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Rectangle 39"/>
          <p:cNvSpPr/>
          <p:nvPr/>
        </p:nvSpPr>
        <p:spPr>
          <a:xfrm>
            <a:off x="5989320" y="3740040"/>
            <a:ext cx="237672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0" name="TextBox 40"/>
          <p:cNvSpPr/>
          <p:nvPr/>
        </p:nvSpPr>
        <p:spPr>
          <a:xfrm>
            <a:off x="6080760" y="384948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41"/>
          <p:cNvSpPr/>
          <p:nvPr/>
        </p:nvSpPr>
        <p:spPr>
          <a:xfrm>
            <a:off x="8503920" y="374004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42"/>
          <p:cNvSpPr/>
          <p:nvPr/>
        </p:nvSpPr>
        <p:spPr>
          <a:xfrm>
            <a:off x="8595360" y="384948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43"/>
          <p:cNvSpPr/>
          <p:nvPr/>
        </p:nvSpPr>
        <p:spPr>
          <a:xfrm>
            <a:off x="274320" y="4389120"/>
            <a:ext cx="31996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44"/>
          <p:cNvSpPr/>
          <p:nvPr/>
        </p:nvSpPr>
        <p:spPr>
          <a:xfrm>
            <a:off x="365760" y="449892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Pet &amp; child profiles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Rectangle 45"/>
          <p:cNvSpPr/>
          <p:nvPr/>
        </p:nvSpPr>
        <p:spPr>
          <a:xfrm>
            <a:off x="3566160" y="4389120"/>
            <a:ext cx="228528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6" name="TextBox 46"/>
          <p:cNvSpPr/>
          <p:nvPr/>
        </p:nvSpPr>
        <p:spPr>
          <a:xfrm>
            <a:off x="3657600" y="449892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ectangle 47"/>
          <p:cNvSpPr/>
          <p:nvPr/>
        </p:nvSpPr>
        <p:spPr>
          <a:xfrm>
            <a:off x="5989320" y="4389120"/>
            <a:ext cx="2376720" cy="648360"/>
          </a:xfrm>
          <a:prstGeom prst="rect">
            <a:avLst/>
          </a:prstGeom>
          <a:solidFill>
            <a:srgbClr val="14223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TextBox 48"/>
          <p:cNvSpPr/>
          <p:nvPr/>
        </p:nvSpPr>
        <p:spPr>
          <a:xfrm>
            <a:off x="6080760" y="449892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Rectangle 49"/>
          <p:cNvSpPr/>
          <p:nvPr/>
        </p:nvSpPr>
        <p:spPr>
          <a:xfrm>
            <a:off x="8503920" y="438912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0" name="TextBox 50"/>
          <p:cNvSpPr/>
          <p:nvPr/>
        </p:nvSpPr>
        <p:spPr>
          <a:xfrm>
            <a:off x="8595360" y="449892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Rectangle 51"/>
          <p:cNvSpPr/>
          <p:nvPr/>
        </p:nvSpPr>
        <p:spPr>
          <a:xfrm>
            <a:off x="274320" y="5038200"/>
            <a:ext cx="31996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2" name="TextBox 52"/>
          <p:cNvSpPr/>
          <p:nvPr/>
        </p:nvSpPr>
        <p:spPr>
          <a:xfrm>
            <a:off x="365760" y="5148000"/>
            <a:ext cx="30625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Email alerts before empty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53"/>
          <p:cNvSpPr/>
          <p:nvPr/>
        </p:nvSpPr>
        <p:spPr>
          <a:xfrm>
            <a:off x="3566160" y="5038200"/>
            <a:ext cx="228528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54"/>
          <p:cNvSpPr/>
          <p:nvPr/>
        </p:nvSpPr>
        <p:spPr>
          <a:xfrm>
            <a:off x="3657600" y="5148000"/>
            <a:ext cx="214812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❌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Rectangle 55"/>
          <p:cNvSpPr/>
          <p:nvPr/>
        </p:nvSpPr>
        <p:spPr>
          <a:xfrm>
            <a:off x="5989320" y="5038200"/>
            <a:ext cx="2376720" cy="64836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6" name="TextBox 56"/>
          <p:cNvSpPr/>
          <p:nvPr/>
        </p:nvSpPr>
        <p:spPr>
          <a:xfrm>
            <a:off x="6080760" y="5148000"/>
            <a:ext cx="2239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⚠️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ectangle 57"/>
          <p:cNvSpPr/>
          <p:nvPr/>
        </p:nvSpPr>
        <p:spPr>
          <a:xfrm>
            <a:off x="8503920" y="5038200"/>
            <a:ext cx="3519720" cy="648360"/>
          </a:xfrm>
          <a:prstGeom prst="rect">
            <a:avLst/>
          </a:prstGeom>
          <a:solidFill>
            <a:srgbClr val="172a4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TextBox 58"/>
          <p:cNvSpPr/>
          <p:nvPr/>
        </p:nvSpPr>
        <p:spPr>
          <a:xfrm>
            <a:off x="8595360" y="5148000"/>
            <a:ext cx="3382560" cy="3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5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✅</a:t>
            </a:r>
            <a:endParaRPr lang="ru-RU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365760" y="182880"/>
            <a:ext cx="109720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Tech Stack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365760" y="1005840"/>
            <a:ext cx="10972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0" i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Modern, production-ready, fully containerised.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Rectangle 3"/>
          <p:cNvSpPr/>
          <p:nvPr/>
        </p:nvSpPr>
        <p:spPr>
          <a:xfrm>
            <a:off x="365760" y="1691640"/>
            <a:ext cx="2285280" cy="7124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2" name="TextBox 4"/>
          <p:cNvSpPr/>
          <p:nvPr/>
        </p:nvSpPr>
        <p:spPr>
          <a:xfrm>
            <a:off x="365760" y="176472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Frontend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Rectangle 5"/>
          <p:cNvSpPr/>
          <p:nvPr/>
        </p:nvSpPr>
        <p:spPr>
          <a:xfrm>
            <a:off x="2697480" y="1691640"/>
            <a:ext cx="9006120" cy="71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2834640" y="1783080"/>
            <a:ext cx="8777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React 18 · TypeScript · Vite · Tailwind CSS · shadcn/ui · TanStack Query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Rectangle 7"/>
          <p:cNvSpPr/>
          <p:nvPr/>
        </p:nvSpPr>
        <p:spPr>
          <a:xfrm>
            <a:off x="365760" y="2587680"/>
            <a:ext cx="2285280" cy="7124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6" name="TextBox 8"/>
          <p:cNvSpPr/>
          <p:nvPr/>
        </p:nvSpPr>
        <p:spPr>
          <a:xfrm>
            <a:off x="365760" y="266076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Rectangle 9"/>
          <p:cNvSpPr/>
          <p:nvPr/>
        </p:nvSpPr>
        <p:spPr>
          <a:xfrm>
            <a:off x="2697480" y="2587680"/>
            <a:ext cx="9006120" cy="71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2834640" y="2679120"/>
            <a:ext cx="8777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Spring Boot 3.4 · Java 21 · MongoDB · RESTful JSON API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365760" y="3483720"/>
            <a:ext cx="2285280" cy="7124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0" name="TextBox 12"/>
          <p:cNvSpPr/>
          <p:nvPr/>
        </p:nvSpPr>
        <p:spPr>
          <a:xfrm>
            <a:off x="365760" y="355716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Auth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Rectangle 13"/>
          <p:cNvSpPr/>
          <p:nvPr/>
        </p:nvSpPr>
        <p:spPr>
          <a:xfrm>
            <a:off x="2697480" y="3483720"/>
            <a:ext cx="9006120" cy="71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2" name="TextBox 14"/>
          <p:cNvSpPr/>
          <p:nvPr/>
        </p:nvSpPr>
        <p:spPr>
          <a:xfrm>
            <a:off x="2834640" y="3575160"/>
            <a:ext cx="8777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Keycloak 26 · OpenID Connect · JWT · PostgreSQL session store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15"/>
          <p:cNvSpPr/>
          <p:nvPr/>
        </p:nvSpPr>
        <p:spPr>
          <a:xfrm>
            <a:off x="365760" y="4380120"/>
            <a:ext cx="2285280" cy="7124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4" name="TextBox 16"/>
          <p:cNvSpPr/>
          <p:nvPr/>
        </p:nvSpPr>
        <p:spPr>
          <a:xfrm>
            <a:off x="365760" y="445320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AI / LLM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Rectangle 17"/>
          <p:cNvSpPr/>
          <p:nvPr/>
        </p:nvSpPr>
        <p:spPr>
          <a:xfrm>
            <a:off x="2697480" y="4380120"/>
            <a:ext cx="9006120" cy="71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6" name="TextBox 18"/>
          <p:cNvSpPr/>
          <p:nvPr/>
        </p:nvSpPr>
        <p:spPr>
          <a:xfrm>
            <a:off x="2834640" y="4471560"/>
            <a:ext cx="877752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OpenAI GPT-4o-mini · Receipt OCR · Email NLP · Consumption estimation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19"/>
          <p:cNvSpPr/>
          <p:nvPr/>
        </p:nvSpPr>
        <p:spPr>
          <a:xfrm>
            <a:off x="365760" y="5276160"/>
            <a:ext cx="2285280" cy="7124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TextBox 20"/>
          <p:cNvSpPr/>
          <p:nvPr/>
        </p:nvSpPr>
        <p:spPr>
          <a:xfrm>
            <a:off x="365760" y="5349240"/>
            <a:ext cx="2285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Infra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Rectangle 21"/>
          <p:cNvSpPr/>
          <p:nvPr/>
        </p:nvSpPr>
        <p:spPr>
          <a:xfrm>
            <a:off x="2697480" y="5276160"/>
            <a:ext cx="9006120" cy="7124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0" name="TextBox 22"/>
          <p:cNvSpPr/>
          <p:nvPr/>
        </p:nvSpPr>
        <p:spPr>
          <a:xfrm>
            <a:off x="2834640" y="5367600"/>
            <a:ext cx="8777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Docker Compose · Nginx · Multi-stage builds · Health checks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 6"/>
          <p:cNvSpPr/>
          <p:nvPr/>
        </p:nvSpPr>
        <p:spPr>
          <a:xfrm>
            <a:off x="0" y="0"/>
            <a:ext cx="162720" cy="6856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2" name="TextBox 11"/>
          <p:cNvSpPr/>
          <p:nvPr/>
        </p:nvSpPr>
        <p:spPr>
          <a:xfrm>
            <a:off x="457200" y="274320"/>
            <a:ext cx="64364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sngStrike">
                <a:solidFill>
                  <a:srgbClr val="64748b"/>
                </a:solidFill>
                <a:effectLst/>
                <a:uFillTx/>
                <a:latin typeface="Calibri"/>
              </a:rPr>
              <a:t>Coding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Work plan: Initial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15"/>
          <p:cNvSpPr/>
          <p:nvPr/>
        </p:nvSpPr>
        <p:spPr>
          <a:xfrm>
            <a:off x="457200" y="1180080"/>
            <a:ext cx="5924880" cy="40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1.  Generate an idea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2.  Formalize some features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3.  Prepare data model for DB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4.  Prepare non-functional requirements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5.  Prepare HTTP request list for backend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6.  ✨ LLM ✨  generate code for us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7.  Local deployment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8.  Target server deployment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9.  Some more features with the help of </a:t>
            </a: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Noto Sans CJK SC"/>
              </a:rPr>
              <a:t>✨ LLM ✨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10. Demo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Rectangle 10"/>
          <p:cNvSpPr/>
          <p:nvPr/>
        </p:nvSpPr>
        <p:spPr>
          <a:xfrm>
            <a:off x="0" y="0"/>
            <a:ext cx="162720" cy="68562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5" name="TextBox 19"/>
          <p:cNvSpPr/>
          <p:nvPr/>
        </p:nvSpPr>
        <p:spPr>
          <a:xfrm>
            <a:off x="457200" y="274320"/>
            <a:ext cx="599472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sngStrike">
                <a:solidFill>
                  <a:srgbClr val="64748b"/>
                </a:solidFill>
                <a:effectLst/>
                <a:uFillTx/>
                <a:latin typeface="Calibri"/>
              </a:rPr>
              <a:t>Coding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 Work plan: Fact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23"/>
          <p:cNvSpPr/>
          <p:nvPr/>
        </p:nvSpPr>
        <p:spPr>
          <a:xfrm>
            <a:off x="457200" y="1180080"/>
            <a:ext cx="8777880" cy="408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1.  Generate an idea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2.  Formalize some features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3.  Prepare data model for DB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4.  Prepare non-functional requirements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5.  Prepare HTTP request list for backend...  🤔 with </a:t>
            </a: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Noto Sans CJK SC"/>
              </a:rPr>
              <a:t>✨ LLM ✨</a:t>
            </a: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 help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Noto Sans CJK SC"/>
              </a:rPr>
              <a:t>6.  ✨ LLM ✨  generate code for us  🪄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7.  Local deployment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8.  Target server deployment  ✅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9.  Some more features with the help of </a:t>
            </a:r>
            <a:r>
              <a:rPr lang="en-US" sz="1900" b="1" u="none" strike="noStrike">
                <a:solidFill>
                  <a:srgbClr val="3b82f6"/>
                </a:solidFill>
                <a:effectLst/>
                <a:uFillTx/>
                <a:latin typeface="Calibri"/>
                <a:ea typeface="Noto Sans CJK SC"/>
              </a:rPr>
              <a:t>✨ LLM ✨ : </a:t>
            </a:r>
            <a:r>
              <a:rPr lang="en-US" sz="1900" b="0" u="none" strike="noStrike">
                <a:solidFill>
                  <a:srgbClr val="cbd5e1"/>
                </a:solidFill>
                <a:effectLst/>
                <a:uFillTx/>
                <a:latin typeface="Calibri"/>
                <a:ea typeface="Noto Sans CJK SC"/>
              </a:rPr>
              <a:t>🤔 still time-consuming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f59e0b"/>
                </a:solidFill>
                <a:effectLst/>
                <a:uFillTx/>
                <a:latin typeface="Calibri"/>
                <a:ea typeface="Noto Sans CJK SC"/>
              </a:rPr>
              <a:t>10. Demo  ⏳</a:t>
            </a:r>
            <a:endParaRPr lang="ru-RU" sz="1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PlaceHolder 3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PlaceHolder 4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Rectangle 14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27"/>
          <p:cNvSpPr/>
          <p:nvPr/>
        </p:nvSpPr>
        <p:spPr>
          <a:xfrm>
            <a:off x="365760" y="92520"/>
            <a:ext cx="449460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Architecture: now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9"/>
          <p:cNvSpPr/>
          <p:nvPr/>
        </p:nvSpPr>
        <p:spPr>
          <a:xfrm>
            <a:off x="365760" y="705240"/>
            <a:ext cx="41961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one server, three containers, zero drama  ✅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4"/>
          <p:cNvSpPr/>
          <p:nvPr/>
        </p:nvSpPr>
        <p:spPr>
          <a:xfrm>
            <a:off x="1065240" y="2926080"/>
            <a:ext cx="2924640" cy="1278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3b82f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  Frontend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Rounded Rectangle 5"/>
          <p:cNvSpPr/>
          <p:nvPr/>
        </p:nvSpPr>
        <p:spPr>
          <a:xfrm>
            <a:off x="4631400" y="2926080"/>
            <a:ext cx="2924640" cy="1278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6366f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⚙️  Backend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all-in-one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Rounded Rectangle 6"/>
          <p:cNvSpPr/>
          <p:nvPr/>
        </p:nvSpPr>
        <p:spPr>
          <a:xfrm>
            <a:off x="8197560" y="2926080"/>
            <a:ext cx="2924640" cy="12787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10b98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🗄️  MongoDB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single node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67" name="Connector 3"/>
          <p:cNvCxnSpPr/>
          <p:nvPr/>
        </p:nvCxnSpPr>
        <p:spPr>
          <a:xfrm>
            <a:off x="3991320" y="3566160"/>
            <a:ext cx="641520" cy="1440"/>
          </a:xfrm>
          <a:prstGeom prst="straightConnector1">
            <a:avLst/>
          </a:prstGeom>
          <a:ln w="0">
            <a:solidFill>
              <a:srgbClr val="cbd5e1"/>
            </a:solidFill>
            <a:headEnd len="med" type="arrow" w="med"/>
          </a:ln>
        </p:spPr>
      </p:cxnSp>
      <p:cxnSp>
        <p:nvCxnSpPr>
          <p:cNvPr id="268" name="Connector 4"/>
          <p:cNvCxnSpPr/>
          <p:nvPr/>
        </p:nvCxnSpPr>
        <p:spPr>
          <a:xfrm>
            <a:off x="7557480" y="3566160"/>
            <a:ext cx="641520" cy="1440"/>
          </a:xfrm>
          <a:prstGeom prst="straightConnector1">
            <a:avLst/>
          </a:prstGeom>
          <a:ln w="0">
            <a:solidFill>
              <a:srgbClr val="cbd5e1"/>
            </a:solidFill>
            <a:headEnd len="med" type="arrow" w="med"/>
          </a:ln>
        </p:spPr>
      </p:cxnSp>
      <p:sp>
        <p:nvSpPr>
          <p:cNvPr id="269" name="TextBox 31"/>
          <p:cNvSpPr/>
          <p:nvPr/>
        </p:nvSpPr>
        <p:spPr>
          <a:xfrm>
            <a:off x="3843720" y="5760720"/>
            <a:ext cx="44722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deployed with a single docker compose up on one box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PlaceHolder 5"/>
          <p:cNvSpPr>
            <a:spLocks noGrp="1"/>
          </p:cNvSpPr>
          <p:nvPr>
            <p:ph/>
          </p:nvPr>
        </p:nvSpPr>
        <p:spPr>
          <a:xfrm>
            <a:off x="4645080" y="2174760"/>
            <a:ext cx="4039920" cy="394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spcBef>
                <a:spcPts val="1417"/>
              </a:spcBef>
              <a:buNone/>
            </a:pP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Rectangle 18"/>
          <p:cNvSpPr/>
          <p:nvPr/>
        </p:nvSpPr>
        <p:spPr>
          <a:xfrm>
            <a:off x="0" y="0"/>
            <a:ext cx="12187440" cy="1004400"/>
          </a:xfrm>
          <a:prstGeom prst="rect">
            <a:avLst/>
          </a:prstGeom>
          <a:solidFill>
            <a:srgbClr val="1e293b"/>
          </a:solidFill>
          <a:ln>
            <a:solidFill>
              <a:srgbClr val="1e293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TextBox 33"/>
          <p:cNvSpPr/>
          <p:nvPr/>
        </p:nvSpPr>
        <p:spPr>
          <a:xfrm>
            <a:off x="365760" y="92520"/>
            <a:ext cx="6495840" cy="6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400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Architecture: bright future</a:t>
            </a:r>
            <a:endParaRPr lang="ru-RU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Box 35"/>
          <p:cNvSpPr/>
          <p:nvPr/>
        </p:nvSpPr>
        <p:spPr>
          <a:xfrm>
            <a:off x="365760" y="705240"/>
            <a:ext cx="3779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when this becomes the next unicorn  🦄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Rounded Rectangle 1"/>
          <p:cNvSpPr/>
          <p:nvPr/>
        </p:nvSpPr>
        <p:spPr>
          <a:xfrm>
            <a:off x="137160" y="2160000"/>
            <a:ext cx="2284560" cy="95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3b82f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🌐  Frontend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web  ·  pool of services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Rounded Rectangle 2"/>
          <p:cNvSpPr/>
          <p:nvPr/>
        </p:nvSpPr>
        <p:spPr>
          <a:xfrm>
            <a:off x="137160" y="3360960"/>
            <a:ext cx="2284560" cy="958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3b82f6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📱  Mobile app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3"/>
          <p:cNvSpPr/>
          <p:nvPr/>
        </p:nvSpPr>
        <p:spPr>
          <a:xfrm>
            <a:off x="3017520" y="2194560"/>
            <a:ext cx="2558880" cy="2101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6366f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⚙️  Backend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pool of services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Rounded Rectangle 9"/>
          <p:cNvSpPr/>
          <p:nvPr/>
        </p:nvSpPr>
        <p:spPr>
          <a:xfrm>
            <a:off x="6172200" y="2194560"/>
            <a:ext cx="2376000" cy="2101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10b981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🗄️  MongoDB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scalable cluster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Rounded Rectangle 10"/>
          <p:cNvSpPr/>
          <p:nvPr/>
        </p:nvSpPr>
        <p:spPr>
          <a:xfrm>
            <a:off x="9144000" y="2194560"/>
            <a:ext cx="2284560" cy="210168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 w="31750">
            <a:solidFill>
              <a:srgbClr val="f59e0b"/>
            </a:solidFill>
            <a:rou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ru-RU" sz="17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🔧  Data processors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499"/>
              </a:spcBef>
            </a:pPr>
            <a:r>
              <a:rPr lang="ru-RU" sz="1300" b="0" u="none" strike="noStrike">
                <a:solidFill>
                  <a:srgbClr val="64748b"/>
                </a:solidFill>
                <a:effectLst/>
                <a:uFillTx/>
                <a:latin typeface="Calibri"/>
              </a:rPr>
              <a:t>pool of services</a:t>
            </a:r>
            <a:endParaRPr lang="ru-RU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283" name="Connector 1"/>
          <p:cNvCxnSpPr>
            <a:stCxn id="278" idx="3"/>
          </p:cNvCxnSpPr>
          <p:nvPr/>
        </p:nvCxnSpPr>
        <p:spPr>
          <a:xfrm>
            <a:off x="2421720" y="2639520"/>
            <a:ext cx="597240" cy="173520"/>
          </a:xfrm>
          <a:prstGeom prst="bentConnector3">
            <a:avLst>
              <a:gd name="adj1" fmla="val 50060"/>
            </a:avLst>
          </a:prstGeom>
          <a:ln w="0">
            <a:solidFill>
              <a:srgbClr val="3b82f6"/>
            </a:solidFill>
            <a:headEnd len="med" type="arrow" w="med"/>
          </a:ln>
        </p:spPr>
      </p:cxnSp>
      <p:cxnSp>
        <p:nvCxnSpPr>
          <p:cNvPr id="284" name="Connector 2"/>
          <p:cNvCxnSpPr>
            <a:stCxn id="279" idx="3"/>
          </p:cNvCxnSpPr>
          <p:nvPr/>
        </p:nvCxnSpPr>
        <p:spPr>
          <a:xfrm flipV="1">
            <a:off x="2421720" y="3681000"/>
            <a:ext cx="597240" cy="159840"/>
          </a:xfrm>
          <a:prstGeom prst="bentConnector3">
            <a:avLst>
              <a:gd name="adj1" fmla="val 50060"/>
            </a:avLst>
          </a:prstGeom>
          <a:ln w="0">
            <a:solidFill>
              <a:srgbClr val="3b82f6"/>
            </a:solidFill>
            <a:headEnd len="med" type="arrow" w="med"/>
          </a:ln>
        </p:spPr>
      </p:cxnSp>
      <p:cxnSp>
        <p:nvCxnSpPr>
          <p:cNvPr id="285" name="Connector 7"/>
          <p:cNvCxnSpPr/>
          <p:nvPr/>
        </p:nvCxnSpPr>
        <p:spPr>
          <a:xfrm>
            <a:off x="5577840" y="3246120"/>
            <a:ext cx="595800" cy="1440"/>
          </a:xfrm>
          <a:prstGeom prst="straightConnector1">
            <a:avLst/>
          </a:prstGeom>
          <a:ln w="0">
            <a:solidFill>
              <a:srgbClr val="6366f1"/>
            </a:solidFill>
            <a:headEnd len="med" type="arrow" w="med"/>
          </a:ln>
        </p:spPr>
      </p:cxnSp>
      <p:cxnSp>
        <p:nvCxnSpPr>
          <p:cNvPr id="286" name="Connector 8"/>
          <p:cNvCxnSpPr/>
          <p:nvPr/>
        </p:nvCxnSpPr>
        <p:spPr>
          <a:xfrm flipH="1">
            <a:off x="8549640" y="3246120"/>
            <a:ext cx="595800" cy="1440"/>
          </a:xfrm>
          <a:prstGeom prst="straightConnector1">
            <a:avLst/>
          </a:prstGeom>
          <a:ln w="0">
            <a:solidFill>
              <a:srgbClr val="f59e0b"/>
            </a:solidFill>
            <a:headEnd len="med" type="arrow" w="med"/>
          </a:ln>
        </p:spPr>
      </p:cxnSp>
      <p:sp>
        <p:nvSpPr>
          <p:cNvPr id="287" name="TextBox 37"/>
          <p:cNvSpPr/>
          <p:nvPr/>
        </p:nvSpPr>
        <p:spPr>
          <a:xfrm>
            <a:off x="3490200" y="5760720"/>
            <a:ext cx="517968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>
              <a:lnSpc>
                <a:spcPct val="100000"/>
              </a:lnSpc>
            </a:pPr>
            <a:r>
              <a:rPr lang="ru-RU" sz="1400" b="0" u="none" strike="noStrike">
                <a:solidFill>
                  <a:srgbClr val="64748b"/>
                </a:solidFill>
                <a:effectLst/>
                <a:uFillTx/>
                <a:latin typeface="Arial"/>
              </a:rPr>
              <a:t>horizontally scalable  ·  microservices-ready  ·  cloud-native  ☁️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1"/>
          <p:cNvSpPr/>
          <p:nvPr/>
        </p:nvSpPr>
        <p:spPr>
          <a:xfrm>
            <a:off x="0" y="0"/>
            <a:ext cx="200520" cy="685728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Rectangle 2"/>
          <p:cNvSpPr/>
          <p:nvPr/>
        </p:nvSpPr>
        <p:spPr>
          <a:xfrm>
            <a:off x="0" y="6492240"/>
            <a:ext cx="12188160" cy="365040"/>
          </a:xfrm>
          <a:prstGeom prst="rect">
            <a:avLst/>
          </a:prstGeom>
          <a:solidFill>
            <a:srgbClr val="3b82f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0" name="TextBox 3"/>
          <p:cNvSpPr/>
          <p:nvPr/>
        </p:nvSpPr>
        <p:spPr>
          <a:xfrm>
            <a:off x="457200" y="914400"/>
            <a:ext cx="11429280" cy="109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Never run out of anything.</a:t>
            </a:r>
            <a:endParaRPr lang="ru-RU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4"/>
          <p:cNvSpPr/>
          <p:nvPr/>
        </p:nvSpPr>
        <p:spPr>
          <a:xfrm>
            <a:off x="457200" y="2286000"/>
            <a:ext cx="11429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400" b="0" i="1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Never Empty — live demo available right now.</a:t>
            </a:r>
            <a:endParaRPr lang="ru-RU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Box 5"/>
          <p:cNvSpPr/>
          <p:nvPr/>
        </p:nvSpPr>
        <p:spPr>
          <a:xfrm>
            <a:off x="457200" y="3200400"/>
            <a:ext cx="1142928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What we built:</a:t>
            </a:r>
            <a:endParaRPr lang="ru-RU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6"/>
          <p:cNvSpPr/>
          <p:nvPr/>
        </p:nvSpPr>
        <p:spPr>
          <a:xfrm>
            <a:off x="2560320" y="3794760"/>
            <a:ext cx="7314480" cy="246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505"/>
              </a:spcBef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Full-stack app: React + Spring Boot + MongoDB + Keycloak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05"/>
              </a:spcBef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AI receipt &amp; email parsing with batch review flow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05"/>
              </a:spcBef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Real-time depletion forecasting with daily scheduler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05"/>
              </a:spcBef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Email notifications — working end-to-end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505"/>
              </a:spcBef>
            </a:pPr>
            <a:r>
              <a:rPr lang="en-US" sz="1700" b="0" u="none" strike="noStrike">
                <a:solidFill>
                  <a:srgbClr val="cbd5e1"/>
                </a:solidFill>
                <a:effectLst/>
                <a:uFillTx/>
                <a:latin typeface="Calibri"/>
              </a:rPr>
              <a:t>✅  Fully Dockerised: runs with a single  docker compose up</a:t>
            </a:r>
            <a:endParaRPr lang="ru-RU" sz="1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7"/>
          <p:cNvSpPr/>
          <p:nvPr/>
        </p:nvSpPr>
        <p:spPr>
          <a:xfrm>
            <a:off x="457200" y="6263640"/>
            <a:ext cx="114292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3b82f6"/>
                </a:solidFill>
                <a:effectLst/>
                <a:uFillTx/>
                <a:latin typeface="Calibri"/>
              </a:rPr>
              <a:t>Hackathon 2026</a:t>
            </a:r>
            <a:endParaRPr lang="ru-RU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20"/>
          <p:cNvSpPr/>
          <p:nvPr/>
        </p:nvSpPr>
        <p:spPr>
          <a:xfrm>
            <a:off x="0" y="0"/>
            <a:ext cx="12188160" cy="1050840"/>
          </a:xfrm>
          <a:prstGeom prst="rect">
            <a:avLst/>
          </a:prstGeom>
          <a:solidFill>
            <a:srgbClr val="1e305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6" name=""/>
          <p:cNvPicPr/>
          <p:nvPr/>
        </p:nvPicPr>
        <p:blipFill>
          <a:blip r:embed="rId1"/>
          <a:stretch/>
        </p:blipFill>
        <p:spPr>
          <a:xfrm>
            <a:off x="4104000" y="1260000"/>
            <a:ext cx="3981240" cy="5019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</TotalTime>
  <Application>LibreOffice/25.8.4.2$Linux_X86_64 LibreOffice_project/580$Build-2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ru-RU</dc:language>
  <cp:lastModifiedBy/>
  <dcterms:modified xsi:type="dcterms:W3CDTF">2026-03-05T20:54:50Z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